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86" r:id="rId1"/>
  </p:sldMasterIdLst>
  <p:sldIdLst>
    <p:sldId id="256" r:id="rId2"/>
    <p:sldId id="257" r:id="rId3"/>
    <p:sldId id="258" r:id="rId4"/>
    <p:sldId id="267" r:id="rId5"/>
    <p:sldId id="259" r:id="rId6"/>
    <p:sldId id="260" r:id="rId7"/>
    <p:sldId id="261" r:id="rId8"/>
    <p:sldId id="262" r:id="rId9"/>
    <p:sldId id="263" r:id="rId10"/>
    <p:sldId id="264" r:id="rId11"/>
    <p:sldId id="268" r:id="rId12"/>
    <p:sldId id="265" r:id="rId13"/>
    <p:sldId id="266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184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844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3449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82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313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278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306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066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346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325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18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3373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  <p:sldLayoutId id="2147483888" r:id="rId2"/>
    <p:sldLayoutId id="2147483889" r:id="rId3"/>
    <p:sldLayoutId id="2147483890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  <p:sldLayoutId id="214748389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73685" y="763524"/>
            <a:ext cx="7543800" cy="2295144"/>
          </a:xfrm>
        </p:spPr>
        <p:txBody>
          <a:bodyPr/>
          <a:lstStyle/>
          <a:p>
            <a:r>
              <a:t>CORTEX Dictionary Lab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4766" y="2965149"/>
            <a:ext cx="7543800" cy="1143000"/>
          </a:xfrm>
        </p:spPr>
        <p:txBody>
          <a:bodyPr/>
          <a:lstStyle/>
          <a:p>
            <a:r>
              <a:rPr lang="en-US"/>
              <a:t>PRIHANTORO</a:t>
            </a:r>
          </a:p>
          <a:p>
            <a:r>
              <a:rPr lang="en-US"/>
              <a:t>UNIVERSITAS DIPONEGORO</a:t>
            </a:r>
          </a:p>
          <a:p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413EED-AEF5-93B7-C705-FCFB48A99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766" y="4495019"/>
            <a:ext cx="7482719" cy="148515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F9222C8-C7D7-A748-6649-BD5BADD3B217}"/>
              </a:ext>
            </a:extLst>
          </p:cNvPr>
          <p:cNvSpPr/>
          <p:nvPr/>
        </p:nvSpPr>
        <p:spPr>
          <a:xfrm>
            <a:off x="749808" y="6464808"/>
            <a:ext cx="2807208" cy="3017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prihantoro@live.undip.ac.id</a:t>
            </a:r>
            <a:endParaRPr lang="en-ID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2A624F-AF9C-8360-0362-BE98F8B94648}"/>
              </a:ext>
            </a:extLst>
          </p:cNvPr>
          <p:cNvSpPr/>
          <p:nvPr/>
        </p:nvSpPr>
        <p:spPr>
          <a:xfrm>
            <a:off x="5465064" y="6464808"/>
            <a:ext cx="3013502" cy="3017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https://www.prihantoro.com/</a:t>
            </a:r>
            <a:endParaRPr lang="en-ID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What is CORTEX Dictionary Lab?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7985" y="1937174"/>
            <a:ext cx="3059656" cy="4023360"/>
          </a:xfrm>
        </p:spPr>
        <p:txBody>
          <a:bodyPr>
            <a:normAutofit fontScale="92500" lnSpcReduction="10000"/>
          </a:bodyPr>
          <a:lstStyle/>
          <a:p>
            <a:pPr>
              <a:spcAft>
                <a:spcPts val="1400"/>
              </a:spcAft>
              <a:defRPr sz="2400"/>
            </a:pPr>
            <a:r>
              <a:t>A powerful </a:t>
            </a:r>
            <a:r>
              <a:rPr lang="en-US"/>
              <a:t>corpus-based dictionary query and editor </a:t>
            </a:r>
            <a:r>
              <a:t>app</a:t>
            </a:r>
            <a:r>
              <a:rPr lang="en-US"/>
              <a:t>.</a:t>
            </a:r>
          </a:p>
          <a:p>
            <a:pPr>
              <a:spcAft>
                <a:spcPts val="1400"/>
              </a:spcAft>
              <a:defRPr sz="2400"/>
            </a:pPr>
            <a:r>
              <a:rPr lang="en-US"/>
              <a:t>Context-Aware: Analyzes corpus examples, N-grams, and Collocates </a:t>
            </a:r>
          </a:p>
          <a:p>
            <a:pPr marL="0" indent="0">
              <a:spcAft>
                <a:spcPts val="1400"/>
              </a:spcAft>
              <a:buNone/>
              <a:defRPr sz="2400"/>
            </a:pPr>
            <a:r>
              <a:rPr lang="en-US" sz="1900">
                <a:latin typeface="Courier New" panose="02070309020205020404" pitchFamily="49" charset="0"/>
                <a:cs typeface="Courier New" panose="02070309020205020404" pitchFamily="49" charset="0"/>
              </a:rPr>
              <a:t>Python: streamlit, duckdb, stanza, pandas, numpy, levensthein (fuzzy matching), requests (ollama integration), openpyxl, xlswrite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5DEDDF-4C08-179A-1D48-88EF3C4B0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2495" y="1845734"/>
            <a:ext cx="2229161" cy="42106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9C2877-C63B-74BE-E789-00F86AF0B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1845734"/>
            <a:ext cx="2752344" cy="19465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5EB0D8-21E6-25C4-7479-DF0F8811D6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656" y="3792293"/>
            <a:ext cx="2543530" cy="236253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8136DAF-2CA5-616F-87B6-3EEA5000943D}"/>
              </a:ext>
            </a:extLst>
          </p:cNvPr>
          <p:cNvSpPr/>
          <p:nvPr/>
        </p:nvSpPr>
        <p:spPr>
          <a:xfrm>
            <a:off x="749808" y="6464808"/>
            <a:ext cx="2807208" cy="3017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prihantoro@live.undip.ac.id</a:t>
            </a:r>
            <a:endParaRPr lang="en-ID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73A11E-DE39-E3DA-A043-12AEAB679BD4}"/>
              </a:ext>
            </a:extLst>
          </p:cNvPr>
          <p:cNvSpPr/>
          <p:nvPr/>
        </p:nvSpPr>
        <p:spPr>
          <a:xfrm>
            <a:off x="5465064" y="6464808"/>
            <a:ext cx="3013502" cy="3017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https://www.prihantoro.com/</a:t>
            </a:r>
            <a:endParaRPr lang="en-ID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✨ AI-Powered Dictionary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22392" y="1845734"/>
            <a:ext cx="2944368" cy="4023360"/>
          </a:xfrm>
        </p:spPr>
        <p:txBody>
          <a:bodyPr>
            <a:normAutofit/>
          </a:bodyPr>
          <a:lstStyle/>
          <a:p>
            <a:pPr>
              <a:spcAft>
                <a:spcPts val="1400"/>
              </a:spcAft>
              <a:defRPr sz="2400"/>
            </a:pPr>
            <a:r>
              <a:t>Supports AI </a:t>
            </a:r>
            <a:r>
              <a:rPr lang="en-US"/>
              <a:t>integration</a:t>
            </a:r>
            <a:r>
              <a:t>.</a:t>
            </a:r>
          </a:p>
          <a:p>
            <a:pPr>
              <a:spcAft>
                <a:spcPts val="1400"/>
              </a:spcAft>
              <a:defRPr sz="2400"/>
            </a:pPr>
            <a:r>
              <a:t>Drastically speeds up the lexicography workflow</a:t>
            </a:r>
            <a:r>
              <a:rPr lang="en-US"/>
              <a:t> [post-editing]</a:t>
            </a:r>
            <a: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C6850E-9E6B-DA4D-21A4-78E42D89C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81772"/>
            <a:ext cx="4382931" cy="313886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EA6BAAA-5D1B-9C1E-F4B0-E937F8E8C36A}"/>
              </a:ext>
            </a:extLst>
          </p:cNvPr>
          <p:cNvSpPr/>
          <p:nvPr/>
        </p:nvSpPr>
        <p:spPr>
          <a:xfrm>
            <a:off x="749808" y="6464808"/>
            <a:ext cx="2807208" cy="3017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prihantoro@live.undip.ac.id</a:t>
            </a:r>
            <a:endParaRPr lang="en-ID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0FA818-2B77-B6E5-7A14-AEB11E0941AB}"/>
              </a:ext>
            </a:extLst>
          </p:cNvPr>
          <p:cNvSpPr/>
          <p:nvPr/>
        </p:nvSpPr>
        <p:spPr>
          <a:xfrm>
            <a:off x="5465064" y="6464808"/>
            <a:ext cx="3013502" cy="3017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https://www.prihantoro.com/</a:t>
            </a:r>
            <a:endParaRPr lang="en-ID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C9A68-C6F5-3B2D-44D2-159ECE280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814E6-1E86-1D68-6CCF-2C254F135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✨ AI-Powered Dictionary </a:t>
            </a:r>
            <a:r>
              <a:rPr lang="en-US"/>
              <a:t>EDITOR</a:t>
            </a:r>
            <a:endParaRPr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3F7BCA6-2619-E71A-1A80-A666E73D6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758BE97-A867-C95F-C749-85FC0C770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406" y="1845734"/>
            <a:ext cx="8106906" cy="404869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3422712-6EB7-E148-99B8-35EF45B9F721}"/>
              </a:ext>
            </a:extLst>
          </p:cNvPr>
          <p:cNvSpPr/>
          <p:nvPr/>
        </p:nvSpPr>
        <p:spPr>
          <a:xfrm>
            <a:off x="749808" y="6464808"/>
            <a:ext cx="2807208" cy="3017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prihantoro@live.undip.ac.id</a:t>
            </a:r>
            <a:endParaRPr lang="en-ID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764844-BF37-7245-17C9-1DBBBF5CE707}"/>
              </a:ext>
            </a:extLst>
          </p:cNvPr>
          <p:cNvSpPr/>
          <p:nvPr/>
        </p:nvSpPr>
        <p:spPr>
          <a:xfrm>
            <a:off x="5465064" y="6464808"/>
            <a:ext cx="3013502" cy="3017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https://www.prihantoro.com/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76896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🧠 Advanced NLP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4187953" cy="4023360"/>
          </a:xfrm>
        </p:spPr>
        <p:txBody>
          <a:bodyPr>
            <a:normAutofit fontScale="92500" lnSpcReduction="20000"/>
          </a:bodyPr>
          <a:lstStyle/>
          <a:p>
            <a:pPr>
              <a:spcAft>
                <a:spcPts val="1400"/>
              </a:spcAft>
              <a:defRPr sz="2400"/>
            </a:pPr>
            <a:r>
              <a:t>Stanza Integration: Auto-tokenizes, POS-tags, and lemmatizes raw texts.</a:t>
            </a:r>
          </a:p>
          <a:p>
            <a:pPr>
              <a:spcAft>
                <a:spcPts val="1400"/>
              </a:spcAft>
              <a:defRPr sz="2400"/>
            </a:pPr>
            <a:r>
              <a:t>Flexible Metadata: Ingests complex XML tags (&lt;text id&gt;, &lt;structure segment&gt;).</a:t>
            </a:r>
          </a:p>
          <a:p>
            <a:pPr>
              <a:spcAft>
                <a:spcPts val="1400"/>
              </a:spcAft>
              <a:defRPr sz="2400"/>
            </a:pPr>
            <a:r>
              <a:t>Intelligent Sentence Splitting: Advanced regex detection wrapped in &lt;s&gt; tags.</a:t>
            </a:r>
          </a:p>
          <a:p>
            <a:pPr>
              <a:spcAft>
                <a:spcPts val="1400"/>
              </a:spcAft>
              <a:defRPr sz="2400"/>
            </a:pPr>
            <a:r>
              <a:t>Supports dual input formats: Raw text (.txt) and Vertical/Tagged (.xml).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B5E9C8-3CE3-BC76-E00D-A343CEF83B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737361"/>
            <a:ext cx="2586315" cy="454770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2B96CD2-9698-4553-3326-FDCF341BB84F}"/>
              </a:ext>
            </a:extLst>
          </p:cNvPr>
          <p:cNvSpPr/>
          <p:nvPr/>
        </p:nvSpPr>
        <p:spPr>
          <a:xfrm>
            <a:off x="749808" y="6464808"/>
            <a:ext cx="2807208" cy="3017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prihantoro@live.undip.ac.id</a:t>
            </a:r>
            <a:endParaRPr lang="en-ID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283C7F-74DF-953D-2D4A-FEB186752EA7}"/>
              </a:ext>
            </a:extLst>
          </p:cNvPr>
          <p:cNvSpPr/>
          <p:nvPr/>
        </p:nvSpPr>
        <p:spPr>
          <a:xfrm>
            <a:off x="5465064" y="6464808"/>
            <a:ext cx="3013502" cy="3017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https://www.prihantoro.com/</a:t>
            </a:r>
            <a:endParaRPr lang="en-ID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📊 Interactive Collocat</a:t>
            </a:r>
            <a:r>
              <a:rPr lang="en-US"/>
              <a:t>ion</a:t>
            </a:r>
            <a:r>
              <a:t>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25695" y="1845734"/>
            <a:ext cx="4105657" cy="4023360"/>
          </a:xfrm>
        </p:spPr>
        <p:txBody>
          <a:bodyPr>
            <a:normAutofit fontScale="92500" lnSpcReduction="20000"/>
          </a:bodyPr>
          <a:lstStyle/>
          <a:p>
            <a:pPr>
              <a:spcAft>
                <a:spcPts val="1400"/>
              </a:spcAft>
              <a:defRPr sz="2400"/>
            </a:pPr>
            <a:r>
              <a:t>Extracts statistically significant word</a:t>
            </a:r>
            <a:r>
              <a:rPr lang="en-US"/>
              <a:t> associated to node</a:t>
            </a:r>
            <a:r>
              <a:t>.</a:t>
            </a:r>
          </a:p>
          <a:p>
            <a:pPr>
              <a:spcAft>
                <a:spcPts val="1400"/>
              </a:spcAft>
              <a:defRPr sz="2400"/>
            </a:pPr>
            <a:r>
              <a:rPr lang="en-US"/>
              <a:t>Network </a:t>
            </a:r>
            <a:r>
              <a:t>Visualizations:</a:t>
            </a:r>
          </a:p>
          <a:p>
            <a:pPr>
              <a:spcAft>
                <a:spcPts val="1400"/>
              </a:spcAft>
              <a:defRPr sz="2400"/>
            </a:pPr>
            <a:r>
              <a:t>  - Bubble Size = Association Score</a:t>
            </a:r>
          </a:p>
          <a:p>
            <a:pPr>
              <a:spcAft>
                <a:spcPts val="1400"/>
              </a:spcAft>
              <a:defRPr sz="2400"/>
            </a:pPr>
            <a:r>
              <a:t>  - Distance to Center = Strength</a:t>
            </a:r>
          </a:p>
          <a:p>
            <a:pPr>
              <a:spcAft>
                <a:spcPts val="1400"/>
              </a:spcAft>
              <a:defRPr sz="2400"/>
            </a:pPr>
            <a:r>
              <a:t>  - Color = Part of Speech</a:t>
            </a:r>
          </a:p>
          <a:p>
            <a:pPr>
              <a:spcAft>
                <a:spcPts val="1400"/>
              </a:spcAft>
              <a:defRPr sz="2400"/>
            </a:pPr>
            <a:r>
              <a:t>Powerful Collocate filters/whitelists to drill down on target vocabulary.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02E517-0A05-968F-CF2F-A8DF2C318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593" y="1845734"/>
            <a:ext cx="4003102" cy="393192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2997AF9-ECC2-B9B6-DAA4-32121F245ACF}"/>
              </a:ext>
            </a:extLst>
          </p:cNvPr>
          <p:cNvSpPr/>
          <p:nvPr/>
        </p:nvSpPr>
        <p:spPr>
          <a:xfrm>
            <a:off x="749808" y="6464808"/>
            <a:ext cx="2807208" cy="3017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prihantoro@live.undip.ac.id</a:t>
            </a:r>
            <a:endParaRPr lang="en-ID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3E5CD0-9862-3FBD-5A1D-70FF85DAB7C8}"/>
              </a:ext>
            </a:extLst>
          </p:cNvPr>
          <p:cNvSpPr/>
          <p:nvPr/>
        </p:nvSpPr>
        <p:spPr>
          <a:xfrm>
            <a:off x="5465064" y="6464808"/>
            <a:ext cx="3013502" cy="3017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https://www.prihantoro.com/</a:t>
            </a:r>
            <a:endParaRPr lang="en-ID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📈 Deep N-Gram &amp; Frequency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3611881" cy="4023360"/>
          </a:xfrm>
        </p:spPr>
        <p:txBody>
          <a:bodyPr>
            <a:normAutofit fontScale="92500" lnSpcReduction="20000"/>
          </a:bodyPr>
          <a:lstStyle/>
          <a:p>
            <a:pPr>
              <a:spcAft>
                <a:spcPts val="1400"/>
              </a:spcAft>
              <a:defRPr sz="2400"/>
            </a:pPr>
            <a:r>
              <a:t>Extracts Bigrams and Trigrams instantly across millions of tokens.</a:t>
            </a:r>
          </a:p>
          <a:p>
            <a:pPr>
              <a:spcAft>
                <a:spcPts val="1400"/>
              </a:spcAft>
              <a:defRPr sz="2400"/>
            </a:pPr>
            <a:r>
              <a:t>Directional Analysis: See what usually precedes vs. follows a word.</a:t>
            </a:r>
          </a:p>
          <a:p>
            <a:pPr>
              <a:spcAft>
                <a:spcPts val="1400"/>
              </a:spcAft>
              <a:defRPr sz="2400"/>
            </a:pPr>
            <a:r>
              <a:t>ZIPF Bands &amp; Per Million Words (PMW) frequency scoring.</a:t>
            </a:r>
          </a:p>
          <a:p>
            <a:pPr>
              <a:spcAft>
                <a:spcPts val="1400"/>
              </a:spcAft>
              <a:defRPr sz="2400"/>
            </a:pPr>
            <a:r>
              <a:t>Explore global corpus statistics and POS distribution at a glance.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3E7993-5965-9808-B095-E28C2092A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1" y="1845734"/>
            <a:ext cx="4215400" cy="18385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CACE70-1138-A91D-3DDA-E6AD215AD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1" y="4095843"/>
            <a:ext cx="4321527" cy="97907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408A057-06CA-AA19-A90E-CE9E2DF5C185}"/>
              </a:ext>
            </a:extLst>
          </p:cNvPr>
          <p:cNvSpPr/>
          <p:nvPr/>
        </p:nvSpPr>
        <p:spPr>
          <a:xfrm>
            <a:off x="749808" y="6464808"/>
            <a:ext cx="2807208" cy="3017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prihantoro@live.undip.ac.id</a:t>
            </a:r>
            <a:endParaRPr lang="en-ID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41C67E-90C3-E058-8873-A0092182EDE0}"/>
              </a:ext>
            </a:extLst>
          </p:cNvPr>
          <p:cNvSpPr/>
          <p:nvPr/>
        </p:nvSpPr>
        <p:spPr>
          <a:xfrm>
            <a:off x="5465064" y="6464808"/>
            <a:ext cx="3013502" cy="3017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https://www.prihantoro.com/</a:t>
            </a:r>
            <a:endParaRPr lang="en-ID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🎯 Advanced KWIC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25351" y="2001182"/>
            <a:ext cx="3236977" cy="4023360"/>
          </a:xfrm>
        </p:spPr>
        <p:txBody>
          <a:bodyPr>
            <a:normAutofit fontScale="85000" lnSpcReduction="10000"/>
          </a:bodyPr>
          <a:lstStyle/>
          <a:p>
            <a:pPr>
              <a:spcAft>
                <a:spcPts val="1400"/>
              </a:spcAft>
              <a:defRPr sz="2400"/>
            </a:pPr>
            <a:r>
              <a:t>Key Word In Context (KWIC) displayed at the full sentence level.</a:t>
            </a:r>
          </a:p>
          <a:p>
            <a:pPr>
              <a:spcAft>
                <a:spcPts val="1400"/>
              </a:spcAft>
              <a:defRPr sz="2400"/>
            </a:pPr>
            <a:r>
              <a:t>Custom Highlighted Context: Search node in Red, Collocates in Blue.</a:t>
            </a:r>
          </a:p>
          <a:p>
            <a:pPr>
              <a:spcAft>
                <a:spcPts val="1400"/>
              </a:spcAft>
              <a:defRPr sz="2400"/>
            </a:pPr>
            <a:r>
              <a:t>Expandable Top Collocate sections to view how specific words cluster in real text.</a:t>
            </a:r>
          </a:p>
          <a:p>
            <a:pPr>
              <a:spcAft>
                <a:spcPts val="1400"/>
              </a:spcAft>
              <a:defRPr sz="2400"/>
            </a:pPr>
            <a:r>
              <a:t>Filter examples instantly by Genre, Year, Author, or XML Structure Segments.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B5D70E-4FCD-A9CC-FF43-13D658FF2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808" y="2001182"/>
            <a:ext cx="4314144" cy="308229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651B55E-A35F-B0DE-19D8-D8DBC433BC0F}"/>
              </a:ext>
            </a:extLst>
          </p:cNvPr>
          <p:cNvSpPr/>
          <p:nvPr/>
        </p:nvSpPr>
        <p:spPr>
          <a:xfrm>
            <a:off x="749808" y="6464808"/>
            <a:ext cx="2807208" cy="3017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prihantoro@live.undip.ac.id</a:t>
            </a:r>
            <a:endParaRPr lang="en-ID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28775C-2F0E-E656-E7D7-DE4A4C0C3B62}"/>
              </a:ext>
            </a:extLst>
          </p:cNvPr>
          <p:cNvSpPr/>
          <p:nvPr/>
        </p:nvSpPr>
        <p:spPr>
          <a:xfrm>
            <a:off x="5465064" y="6464808"/>
            <a:ext cx="3013502" cy="3017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https://www.prihantoro.com/</a:t>
            </a:r>
            <a:endParaRPr lang="en-ID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🌐 Parallel Corpus Mode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3355849" cy="4023360"/>
          </a:xfrm>
        </p:spPr>
        <p:txBody>
          <a:bodyPr>
            <a:normAutofit fontScale="92500" lnSpcReduction="20000"/>
          </a:bodyPr>
          <a:lstStyle/>
          <a:p>
            <a:pPr>
              <a:spcAft>
                <a:spcPts val="1400"/>
              </a:spcAft>
              <a:defRPr sz="2400"/>
            </a:pPr>
            <a:r>
              <a:t>Analyze aligned bilingual texts side-by-side.</a:t>
            </a:r>
          </a:p>
          <a:p>
            <a:pPr>
              <a:spcAft>
                <a:spcPts val="1400"/>
              </a:spcAft>
              <a:defRPr sz="2400"/>
            </a:pPr>
            <a:r>
              <a:t>Automatic Sentence Alignment based on document IDs and sentence numbers.</a:t>
            </a:r>
          </a:p>
          <a:p>
            <a:pPr>
              <a:spcAft>
                <a:spcPts val="1400"/>
              </a:spcAft>
              <a:defRPr sz="2400"/>
            </a:pPr>
            <a:r>
              <a:t>Reveal translation patterns and cross-linguistic collocations.</a:t>
            </a:r>
          </a:p>
          <a:p>
            <a:pPr>
              <a:spcAft>
                <a:spcPts val="1400"/>
              </a:spcAft>
              <a:defRPr sz="2400"/>
            </a:pPr>
            <a:r>
              <a:t>Perfect for translation studies and bilingual dictionary compilation.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4DE371-3245-74D8-C1EF-3E5F34F74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9" y="1965212"/>
            <a:ext cx="3730752" cy="402336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EF2A123-8690-BCA7-A054-50A524BEED85}"/>
              </a:ext>
            </a:extLst>
          </p:cNvPr>
          <p:cNvSpPr/>
          <p:nvPr/>
        </p:nvSpPr>
        <p:spPr>
          <a:xfrm>
            <a:off x="749808" y="6464808"/>
            <a:ext cx="2807208" cy="3017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prihantoro@live.undip.ac.id</a:t>
            </a:r>
            <a:endParaRPr lang="en-ID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6DDADB-903C-393A-2A57-231611A47BE3}"/>
              </a:ext>
            </a:extLst>
          </p:cNvPr>
          <p:cNvSpPr/>
          <p:nvPr/>
        </p:nvSpPr>
        <p:spPr>
          <a:xfrm>
            <a:off x="5465064" y="6464808"/>
            <a:ext cx="3013502" cy="3017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https://www.prihantoro.com/</a:t>
            </a:r>
            <a:endParaRPr lang="en-ID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📝 Custom Wordlist Integrations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4860" y="1845734"/>
            <a:ext cx="3465577" cy="4023360"/>
          </a:xfrm>
        </p:spPr>
        <p:txBody>
          <a:bodyPr>
            <a:normAutofit fontScale="92500" lnSpcReduction="10000"/>
          </a:bodyPr>
          <a:lstStyle/>
          <a:p>
            <a:pPr>
              <a:spcAft>
                <a:spcPts val="1400"/>
              </a:spcAft>
              <a:defRPr sz="2400"/>
            </a:pPr>
            <a:r>
              <a:t>Built-in Academic &amp; General lists: GSL, AWL, CEFR limits.</a:t>
            </a:r>
          </a:p>
          <a:p>
            <a:pPr>
              <a:spcAft>
                <a:spcPts val="1400"/>
              </a:spcAft>
              <a:defRPr sz="2400"/>
            </a:pPr>
            <a:r>
              <a:t>Upload entirely custom User-Defined Wordlists (.txt).</a:t>
            </a:r>
          </a:p>
          <a:p>
            <a:pPr>
              <a:spcAft>
                <a:spcPts val="1400"/>
              </a:spcAft>
              <a:defRPr sz="2400"/>
            </a:pPr>
            <a:r>
              <a:t>Vocabulary lists automatically render as visual Badges on word searches.</a:t>
            </a:r>
          </a:p>
          <a:p>
            <a:pPr>
              <a:spcAft>
                <a:spcPts val="1400"/>
              </a:spcAft>
              <a:defRPr sz="2400"/>
            </a:pPr>
            <a:r>
              <a:t>Easily track domain-specific vocabulary across enormous corpora.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0BF54B-883B-9A52-08A5-E72B09586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586" y="1909550"/>
            <a:ext cx="3372321" cy="303889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59ECE7F-2AF7-3629-47F3-3A0D07902ACB}"/>
              </a:ext>
            </a:extLst>
          </p:cNvPr>
          <p:cNvSpPr/>
          <p:nvPr/>
        </p:nvSpPr>
        <p:spPr>
          <a:xfrm>
            <a:off x="749808" y="6464808"/>
            <a:ext cx="2807208" cy="3017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prihantoro@live.undip.ac.id</a:t>
            </a:r>
            <a:endParaRPr lang="en-ID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574928-8856-293E-E5EE-D1980B4A7FCE}"/>
              </a:ext>
            </a:extLst>
          </p:cNvPr>
          <p:cNvSpPr/>
          <p:nvPr/>
        </p:nvSpPr>
        <p:spPr>
          <a:xfrm>
            <a:off x="5465064" y="6464808"/>
            <a:ext cx="3013502" cy="3017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https://www.prihantoro.com/</a:t>
            </a:r>
            <a:endParaRPr lang="en-ID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A5FC8-93C2-C441-547A-E48F32AEC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2B51B-8BBD-E8DD-EF0D-8722CD6E4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📝 </a:t>
            </a:r>
            <a:r>
              <a:rPr lang="en-US"/>
              <a:t>Vocabulary profiling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23AB3-1F15-73FC-8FDE-E84744083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548" y="1909550"/>
            <a:ext cx="3465577" cy="4023360"/>
          </a:xfrm>
        </p:spPr>
        <p:txBody>
          <a:bodyPr>
            <a:normAutofit/>
          </a:bodyPr>
          <a:lstStyle/>
          <a:p>
            <a:pPr>
              <a:spcAft>
                <a:spcPts val="1400"/>
              </a:spcAft>
              <a:defRPr sz="2400"/>
            </a:pPr>
            <a:r>
              <a:rPr lang="en-US"/>
              <a:t>Based on existing wordlist</a:t>
            </a:r>
            <a:r>
              <a:t>.</a:t>
            </a:r>
          </a:p>
          <a:p>
            <a:pPr>
              <a:spcAft>
                <a:spcPts val="1400"/>
              </a:spcAft>
              <a:defRPr sz="2400"/>
            </a:pPr>
            <a:r>
              <a:rPr lang="en-US"/>
              <a:t>Coverage of words from wordlist in the corpus</a:t>
            </a:r>
            <a:r>
              <a:t>.</a:t>
            </a:r>
          </a:p>
          <a:p>
            <a:pPr>
              <a:spcAft>
                <a:spcPts val="1400"/>
              </a:spcAft>
              <a:defRPr sz="2400"/>
            </a:pPr>
            <a:r>
              <a:rPr lang="en-US"/>
              <a:t>Table and visualisation</a:t>
            </a: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906CD7-9465-E644-267A-1407A778CB1B}"/>
              </a:ext>
            </a:extLst>
          </p:cNvPr>
          <p:cNvSpPr/>
          <p:nvPr/>
        </p:nvSpPr>
        <p:spPr>
          <a:xfrm>
            <a:off x="749808" y="6464808"/>
            <a:ext cx="2807208" cy="3017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prihantoro@live.undip.ac.id</a:t>
            </a:r>
            <a:endParaRPr lang="en-ID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4B32F7-D12E-4CA8-0330-A61E3A4F0188}"/>
              </a:ext>
            </a:extLst>
          </p:cNvPr>
          <p:cNvSpPr/>
          <p:nvPr/>
        </p:nvSpPr>
        <p:spPr>
          <a:xfrm>
            <a:off x="5465064" y="6464808"/>
            <a:ext cx="3013502" cy="3017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https://www.prihantoro.com/</a:t>
            </a:r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92BDF4-9753-BC65-0DBC-BB04DF74E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6" y="4345488"/>
            <a:ext cx="3384524" cy="19445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8D3ECFC-0324-3F0F-694D-859AC71F5E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2876" y="1909550"/>
            <a:ext cx="3384524" cy="240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2243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✏️ Personal Overrides &amp; Export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4005073" cy="4023360"/>
          </a:xfrm>
        </p:spPr>
        <p:txBody>
          <a:bodyPr>
            <a:normAutofit/>
          </a:bodyPr>
          <a:lstStyle/>
          <a:p>
            <a:pPr>
              <a:spcAft>
                <a:spcPts val="1400"/>
              </a:spcAft>
              <a:defRPr sz="2400"/>
            </a:pPr>
            <a:r>
              <a:t>Save manual definitions, frequencies, and examples to persistent JSON storage.</a:t>
            </a:r>
          </a:p>
          <a:p>
            <a:pPr>
              <a:spcAft>
                <a:spcPts val="1400"/>
              </a:spcAft>
              <a:defRPr sz="2400"/>
            </a:pPr>
            <a:r>
              <a:t>Combine automated corpus statistics directly with human-curated edits.</a:t>
            </a:r>
          </a:p>
          <a:p>
            <a:pPr>
              <a:spcAft>
                <a:spcPts val="1400"/>
              </a:spcAft>
              <a:defRPr sz="2400"/>
            </a:pPr>
            <a:r>
              <a:t>Take full absolute control over your lexicographical data.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DC53BD-5C7E-B097-5D78-03721B965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273" y="1845734"/>
            <a:ext cx="3443768" cy="17004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486E7CC-5EDB-442E-5E7D-2145BC5D6CFC}"/>
              </a:ext>
            </a:extLst>
          </p:cNvPr>
          <p:cNvSpPr/>
          <p:nvPr/>
        </p:nvSpPr>
        <p:spPr>
          <a:xfrm>
            <a:off x="749808" y="6464808"/>
            <a:ext cx="2807208" cy="3017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prihantoro@live.undip.ac.id</a:t>
            </a:r>
            <a:endParaRPr lang="en-ID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367677-978E-7566-C07D-379AFF8955CA}"/>
              </a:ext>
            </a:extLst>
          </p:cNvPr>
          <p:cNvSpPr/>
          <p:nvPr/>
        </p:nvSpPr>
        <p:spPr>
          <a:xfrm>
            <a:off x="5465064" y="6464808"/>
            <a:ext cx="3013502" cy="3017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https://www.prihantoro.com/</a:t>
            </a:r>
            <a:endParaRPr lang="en-ID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62351-5328-6C16-E90C-19FD87B27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18A7A-F5B0-E5F1-2D0B-D143E1028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✏️ </a:t>
            </a:r>
            <a:r>
              <a:rPr lang="en-US"/>
              <a:t>Known issues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74E4E-D0A2-3CE7-264B-C0BDEC3E1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1845734"/>
            <a:ext cx="7360921" cy="4023360"/>
          </a:xfrm>
        </p:spPr>
        <p:txBody>
          <a:bodyPr>
            <a:normAutofit fontScale="62500" lnSpcReduction="20000"/>
          </a:bodyPr>
          <a:lstStyle/>
          <a:p>
            <a:pPr>
              <a:spcAft>
                <a:spcPts val="1400"/>
              </a:spcAft>
              <a:defRPr sz="2400"/>
            </a:pPr>
            <a:r>
              <a:rPr lang="en-US"/>
              <a:t>Pure corpus based – cannot create entry inexistent in the corpus</a:t>
            </a:r>
          </a:p>
          <a:p>
            <a:pPr>
              <a:spcAft>
                <a:spcPts val="1400"/>
              </a:spcAft>
              <a:defRPr sz="2400"/>
            </a:pPr>
            <a:r>
              <a:rPr lang="en-US"/>
              <a:t>Slow, crashed when accessed by many people at the same time</a:t>
            </a:r>
          </a:p>
          <a:p>
            <a:pPr>
              <a:spcAft>
                <a:spcPts val="1400"/>
              </a:spcAft>
              <a:defRPr sz="2400"/>
            </a:pPr>
            <a:r>
              <a:rPr lang="en-US"/>
              <a:t>Cause: deployed on the Streamlit community cloud, limited server powers</a:t>
            </a:r>
          </a:p>
          <a:p>
            <a:pPr>
              <a:spcAft>
                <a:spcPts val="1400"/>
              </a:spcAft>
              <a:defRPr sz="2400"/>
            </a:pPr>
            <a:r>
              <a:rPr lang="en-US"/>
              <a:t>Solution 1: install to local server</a:t>
            </a:r>
          </a:p>
          <a:p>
            <a:pPr>
              <a:spcAft>
                <a:spcPts val="1400"/>
              </a:spcAft>
              <a:defRPr sz="2400"/>
            </a:pPr>
            <a:r>
              <a:rPr lang="en-US"/>
              <a:t>Challenge: need to run via CLI first, not a simple click</a:t>
            </a:r>
          </a:p>
          <a:p>
            <a:pPr>
              <a:spcAft>
                <a:spcPts val="1400"/>
              </a:spcAft>
              <a:defRPr sz="2400"/>
            </a:pPr>
            <a:r>
              <a:rPr lang="en-US"/>
              <a:t>Solution 2: move to private server, modify app to work faster without having to rely on streamlit, focus on corpus-indexing, compute on cache not on the fly</a:t>
            </a:r>
          </a:p>
          <a:p>
            <a:pPr>
              <a:spcAft>
                <a:spcPts val="1400"/>
              </a:spcAft>
              <a:defRPr sz="2400"/>
            </a:pPr>
            <a:r>
              <a:rPr lang="en-US"/>
              <a:t>Challenge: no funding available</a:t>
            </a:r>
          </a:p>
          <a:p>
            <a:pPr>
              <a:spcAft>
                <a:spcPts val="1400"/>
              </a:spcAft>
              <a:defRPr sz="2400"/>
            </a:pPr>
            <a:r>
              <a:rPr lang="en-US"/>
              <a:t>University aims for publication, so if published in a good journal may receive incentives</a:t>
            </a:r>
          </a:p>
          <a:p>
            <a:pPr marL="0" indent="0">
              <a:spcAft>
                <a:spcPts val="1400"/>
              </a:spcAft>
              <a:buNone/>
              <a:defRPr sz="2400"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F4A3D4-6B84-0FB2-815C-F4F6871E9F7A}"/>
              </a:ext>
            </a:extLst>
          </p:cNvPr>
          <p:cNvSpPr/>
          <p:nvPr/>
        </p:nvSpPr>
        <p:spPr>
          <a:xfrm>
            <a:off x="749808" y="6464808"/>
            <a:ext cx="2807208" cy="3017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prihantoro@live.undip.ac.id</a:t>
            </a:r>
            <a:endParaRPr lang="en-ID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FDDAF4-F518-1224-E971-04A8112E7DA7}"/>
              </a:ext>
            </a:extLst>
          </p:cNvPr>
          <p:cNvSpPr/>
          <p:nvPr/>
        </p:nvSpPr>
        <p:spPr>
          <a:xfrm>
            <a:off x="5465064" y="6464808"/>
            <a:ext cx="3013502" cy="3017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https://www.prihantoro.com/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3591818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133</TotalTime>
  <Words>768</Words>
  <Application>Microsoft Office PowerPoint</Application>
  <PresentationFormat>On-screen Show (4:3)</PresentationFormat>
  <Paragraphs>86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Calibri</vt:lpstr>
      <vt:lpstr>Calibri Light</vt:lpstr>
      <vt:lpstr>Courier New</vt:lpstr>
      <vt:lpstr>Retrospect</vt:lpstr>
      <vt:lpstr>CORTEX Dictionary Lab</vt:lpstr>
      <vt:lpstr>What is CORTEX Dictionary Lab?</vt:lpstr>
      <vt:lpstr>✨ AI-Powered Dictionary Generation</vt:lpstr>
      <vt:lpstr>✨ AI-Powered Dictionary EDITOR</vt:lpstr>
      <vt:lpstr>🧠 Advanced NLP Processing</vt:lpstr>
      <vt:lpstr>📊 Interactive Collocation Networks</vt:lpstr>
      <vt:lpstr>📈 Deep N-Gram &amp; Frequency Analysis</vt:lpstr>
      <vt:lpstr>🎯 Advanced KWIC Examples</vt:lpstr>
      <vt:lpstr>🌐 Parallel Corpus Mode</vt:lpstr>
      <vt:lpstr>📝 Custom Wordlist Integrations</vt:lpstr>
      <vt:lpstr>📝 Vocabulary profiling</vt:lpstr>
      <vt:lpstr>✏️ Personal Overrides &amp; Export</vt:lpstr>
      <vt:lpstr>✏️ Known issues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Prihantoro</cp:lastModifiedBy>
  <cp:revision>5</cp:revision>
  <dcterms:created xsi:type="dcterms:W3CDTF">2013-01-27T09:14:16Z</dcterms:created>
  <dcterms:modified xsi:type="dcterms:W3CDTF">2026-03-18T03:30:08Z</dcterms:modified>
  <cp:category/>
</cp:coreProperties>
</file>